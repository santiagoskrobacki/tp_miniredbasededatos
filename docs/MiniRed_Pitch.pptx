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Confianza 2024</c:v>
                </c:pt>
              </c:strCache>
            </c:strRef>
          </c:tx>
          <c:spPr>
            <a:solidFill>
              <a:srgbClr val="22252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C62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19.28</c:v>
                </c:pt>
                <c:pt idx="1">
                  <c:v>9.56</c:v>
                </c:pt>
                <c:pt idx="2">
                  <c:v>26.42</c:v>
                </c:pt>
                <c:pt idx="3">
                  <c:v>50.16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Confianza 2025</c:v>
                </c:pt>
              </c:strCache>
            </c:strRef>
          </c:tx>
          <c:spPr>
            <a:solidFill>
              <a:srgbClr val="E9A13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C62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19.4</c:v>
                </c:pt>
                <c:pt idx="1">
                  <c:v>9.82</c:v>
                </c:pt>
                <c:pt idx="2">
                  <c:v>27.64</c:v>
                </c:pt>
                <c:pt idx="3">
                  <c:v>49.74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5C627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225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l"/>
        <c:majorGridlines>
          <c:spPr>
            <a:ln w="12700" cap="flat">
              <a:solidFill>
                <a:srgbClr val="E3E3D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C627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quiebre global</c:v>
                </c:pt>
              </c:strCache>
            </c:strRef>
          </c:tx>
          <c:spPr>
            <a:solidFill>
              <a:srgbClr val="22252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5C62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Coca-Cola</c:v>
                  </c:pt>
                  <c:pt idx="1">
                    <c:v>Aguas Danone</c:v>
                  </c:pt>
                  <c:pt idx="2">
                    <c:v>Cervecería Quilmes</c:v>
                  </c:pt>
                  <c:pt idx="3">
                    <c:v>Arcor</c:v>
                  </c:pt>
                  <c:pt idx="4">
                    <c:v>Frigorífico Sur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10.77</c:v>
                </c:pt>
                <c:pt idx="1">
                  <c:v>9.84</c:v>
                </c:pt>
                <c:pt idx="2">
                  <c:v>9.84</c:v>
                </c:pt>
                <c:pt idx="3">
                  <c:v>9.69</c:v>
                </c:pt>
                <c:pt idx="4">
                  <c:v>6.8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Excluyendo zona Oeste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5C62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Coca-Cola</c:v>
                  </c:pt>
                  <c:pt idx="1">
                    <c:v>Aguas Danone</c:v>
                  </c:pt>
                  <c:pt idx="2">
                    <c:v>Cervecería Quilmes</c:v>
                  </c:pt>
                  <c:pt idx="3">
                    <c:v>Arcor</c:v>
                  </c:pt>
                  <c:pt idx="4">
                    <c:v>Frigorífico Sur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0.78</c:v>
                </c:pt>
                <c:pt idx="1">
                  <c:v>0.85</c:v>
                </c:pt>
                <c:pt idx="2">
                  <c:v>1</c:v>
                </c:pt>
                <c:pt idx="3">
                  <c:v>11.49</c:v>
                </c:pt>
                <c:pt idx="4">
                  <c:v>8.14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5C627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225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</c:scaling>
        <c:delete val="0"/>
        <c:axPos val="l"/>
        <c:majorGridlines>
          <c:spPr>
            <a:ln w="12700" cap="flat">
              <a:solidFill>
                <a:srgbClr val="E3E3D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7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C627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Presentarse por nombre. En 10 minutos: qué encontramos, cómo lo validamos y qué recomienda el análisis. Arrancar por el problema, no por la tecnología.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Insistir: no alcanza con 'reponer más'. Una sucursal con cero quiebre puede ser la peor gestionada de la cadena. Ese es el hallazgo que más sorprende y lo mostramos en el minuto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Declararlo de entrada quita el aire a la pregunta incómoda. Y convierte una limitación en material teórico.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preguntan por qué no una sola tabla: distinto grano. Un ticket es un evento; el stock es una foto diaria. Meterlos juntos rompe la aditividad.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punto técnico que más pesa. Si sólo se llevan una cosa del pitch, que sea ésta: el 750x de diferencia entre sumar mal y sumar bien.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Puntos 1 y 4 de la consigna resueltos en una sola lámina. El ejemplo del martes es concreto y se puede mostrar en vivo después.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2. Mencionar que EsQuiebre se guarda como entero y no como bit, justamente porque se suma para contar días de faltante.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Pasar rápido por 1 a 3 y detenerse en 4 y 5, que es donde está el contenido propio.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6. No leer las cuatro: contar R1 y R3, que son las más visuales, y dejar R2 para la lámina siguiente.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5, primera mitad: sobreajuste. La segunda mitad es la lámina que sigue.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lámina más fuerte del pitch. Pausar acá. Si hay una sola pregunta del jurado, va a salir de esta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acciones, no con números. El jurado quiere ver que el análisis termina en una decisión.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el portal en otra ventana ANTES de empezar el pitch. Si falla internet, la copia embebida hace que abra igual con doble clic.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en una sola idea: un supuesto mal puesto en la política de reposición explica los cuatro hallazgos. Abrir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E323A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371600"/>
            <a:ext cx="2483510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4835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· UNIDAD 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Minería de Datos,</a:t>
            </a:r>
            <a:endParaRPr lang="en-US" sz="21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KDD y Modelado</a:t>
            </a:r>
            <a:endParaRPr lang="en-US" sz="21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Dimensional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461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Santiago Skrobacki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del compañero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MiniRed S.A.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sucursales · 2024 – 2025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783080"/>
            <a:ext cx="65836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nos quedamos sin stock,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dónde tenemos plata dormida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411480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plantea el caso de una cadena de minimercados y pide resolver un desafío de abastecimiento sobre su data warehouse.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57607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Perspectiva elegida: Opción B · Logística e Inventario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115568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ENCARGO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formas de perder plata con el stock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son problemas de abastecimiento, y son opuestas: corregir una mal empeora la otra.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525780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51560" y="29260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89864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Góndola vacía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347472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va a buscar el producto y no lo encuentra. Es venta perdida, y además manda al cliente al competidor de la esquina.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297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5,22 %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días-producto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stock en góndola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2514600"/>
            <a:ext cx="525780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75120" y="29260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289864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Depósito lleno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347472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Mercadería que nadie compró. Es capital inmovilizado, ocupa lugar y puede vencerse. Nunca falta nada porque sobra todo.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42976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$ 12,0 M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góndola al cierre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período analizado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MiniRed_DW · 131.580 observaciones diarias de góndola sobre 731 días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98371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5983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cátedra da el diseño; la base la construimos nosotros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Generamos MiniRed_DW con comportamientos realistas puestos a propósito y documentados. Los datos son simulados; las cuentas que siguen son reales.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315.969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4747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de ticket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87705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Fact_Ventas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02152" y="260604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776472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153.510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776472" y="34747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diarias de góndola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776472" y="387705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Fact_Stock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364224" y="260604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638544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731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638544" y="34747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consecutivos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38544" y="387705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– 2025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226296" y="260604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500616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500616" y="34747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× 6 sucursales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500616" y="387705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categorías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EFEFEA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005840" y="47548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plantar patrones a propósito?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507492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dataset generado al azar no contiene ninguna regla que descubrir: sería buscar huellas en una playa donde nadie caminó. La contrapartida —que la validación estadística no alcanza y todo hallazgo debe contrastarse contra la lógica del negocio— es exactamente el punto 5 de la consigna.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920240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DIMENSIONAL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procesos de negocio, tres dimensiones compartidas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 y reponer son procesos distintos, con distinto grano. Comparten Tiempo, Sucursal y Producto: eso convierte dos estrellas en una constelación.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92040" y="2724912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9A13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056632" y="2816352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Dim_Tiempo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56632" y="310896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731 días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92040" y="3602736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9A13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056632" y="369417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Dim_Sucursal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3986784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ubicaciones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92040" y="4480560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9A13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056632" y="4572000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Dim_Producto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56632" y="486460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productos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43230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CONFORMADAS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246120"/>
            <a:ext cx="2194560" cy="1371600"/>
          </a:xfrm>
          <a:prstGeom prst="roundRect">
            <a:avLst>
              <a:gd name="adj" fmla="val 4000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1600200" y="3447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Fact_Ventas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7764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grano: 1 línea de ticket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2336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315.969 filas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49640" y="3246120"/>
            <a:ext cx="2194560" cy="1371600"/>
          </a:xfrm>
          <a:prstGeom prst="roundRect">
            <a:avLst>
              <a:gd name="adj" fmla="val 4000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732520" y="3447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Fact_Stock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732520" y="37764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grano: 1 día × sucursal × producto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732520" y="42336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153.510 filas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43400" y="3054096"/>
            <a:ext cx="0" cy="1755648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0" y="3054096"/>
            <a:ext cx="0" cy="1755648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3400" y="3054096"/>
            <a:ext cx="54864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78040" y="3054096"/>
            <a:ext cx="59436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931920"/>
            <a:ext cx="54864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8040" y="3931920"/>
            <a:ext cx="59436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43400" y="4809744"/>
            <a:ext cx="54864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78040" y="4809744"/>
            <a:ext cx="59436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11880" y="3931920"/>
            <a:ext cx="73152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72400" y="3931920"/>
            <a:ext cx="77724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417320" y="5230368"/>
            <a:ext cx="9326880" cy="914400"/>
          </a:xfrm>
          <a:prstGeom prst="roundRect">
            <a:avLst>
              <a:gd name="adj" fmla="val 6000"/>
            </a:avLst>
          </a:prstGeom>
          <a:solidFill>
            <a:srgbClr val="EFEFEA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1737360" y="5394960"/>
            <a:ext cx="8686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Dim_Cajero y Dim_MedioPago quedan sólo del lado de las ventas: el ingreso de mercadería no pasa por caja. Esa asimetría es la prueba de que el stock es un proceso separado y no una columna más en Fact_Ventas.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22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00707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0007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ERROR QUE EVITAMOS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Diez botellas el lunes y diez el martes no son veinte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las mismas diez, fotografiadas dos veces. El stock se suma por sucursal y por producto, nunca por tiempo: es una medida semi-aditiva.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51760"/>
            <a:ext cx="4937760" cy="1965960"/>
          </a:xfrm>
          <a:prstGeom prst="roundRect">
            <a:avLst>
              <a:gd name="adj" fmla="val 2791"/>
            </a:avLst>
          </a:prstGeom>
          <a:solidFill>
            <a:srgbClr val="2E323A"/>
          </a:solidFill>
          <a:ln w="12700">
            <a:solidFill>
              <a:srgbClr val="3E434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05840" y="294436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Sumando los 731 días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2918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6.159.125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0690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— no significa nada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2651760"/>
            <a:ext cx="4937760" cy="1965960"/>
          </a:xfrm>
          <a:prstGeom prst="roundRect">
            <a:avLst>
              <a:gd name="adj" fmla="val 2791"/>
            </a:avLst>
          </a:prstGeom>
          <a:solidFill>
            <a:srgbClr val="2E323A"/>
          </a:solidFill>
          <a:ln w="12700">
            <a:solidFill>
              <a:srgbClr val="E9A13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00800" y="294436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real en góndola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32918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8.161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40690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— la lectura correcta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9377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órdenes de magnitud de diferencia. En el cubo se resuelve configurando la medida con LastNonEmpty; el asistente la deja en Sum por defecto.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81174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0811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Y DISCIPLINAS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responder preguntas a descubrir patrones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consulta OLAP contesta lo que ya sabíamos preguntar. La minería de datos encuentra lo que no sabíamos que había que preguntar.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5623560" cy="868680"/>
          </a:xfrm>
          <a:prstGeom prst="roundRect">
            <a:avLst>
              <a:gd name="adj" fmla="val 6316"/>
            </a:avLst>
          </a:prstGeom>
          <a:solidFill>
            <a:srgbClr val="F0F0EB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578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analítica (OLAP)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529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quebró la zona Oeste en mayo? — La pregunta ya trae la hipótesis adentro.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493008"/>
            <a:ext cx="56235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60120" y="36027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Minería de datos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87705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quiebre de bebidas en el Oeste no cae el fin de semana: cae el martes. Nadie lo había preguntado.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24688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disciplinas, una solución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20840" y="2980944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084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59752" y="29260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bases de datos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159752" y="3218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dimensional en SQL Server, cubo en Analysis Services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20840" y="391363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20840" y="3913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59752" y="38587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Estadística inferencial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159752" y="415137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Soporte, confianza, lift y validación con datos que el modelo no vio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720840" y="484632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20840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159752" y="479145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artificial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159752" y="508406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Asistentes usados para diseñar consultas, cuestionar hallazgos y maquetar el portal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59306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7593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VARIABLES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se puede promediar y qué sólo se puede contar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clasificación no es un trámite: define qué operación tiene sentido sobre cada columna.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2651760"/>
            <a:ext cx="2935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Continuas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017520"/>
            <a:ext cx="2935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Admiten cualquier valor de un rango. Se promedian.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3657600"/>
            <a:ext cx="29352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ImporteTotal — pesos facturados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CostoUnitario — costo por unidad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ValorInventario — capital en góndola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53128" y="242316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745736" y="2651760"/>
            <a:ext cx="2935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Discretas numéricas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745736" y="3017520"/>
            <a:ext cx="2935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Conteos. No existen los valores intermedios.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745736" y="3657600"/>
            <a:ext cx="29352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— unidades vendidas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StockDisponible — unidades en góndola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CantidadIngresada — unidades repuestas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66176" y="242316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558784" y="2651760"/>
            <a:ext cx="2935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Discretas categóricas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558784" y="3017520"/>
            <a:ext cx="2935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Etiquetas. Sirven para agrupar y filtrar.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558784" y="3657600"/>
            <a:ext cx="29352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Zona, Categoría, Proveedor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EsFinDeSemana — binaria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EsQuiebre — la variable objetivo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variable objetivo del análisis es EsQuiebre: binaria, y por eso el modelo se evalúa con confianza y lift, no con un error promedio.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196035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1960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KDD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cinco fases, aplicadas a este caso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2084832" cy="3017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24912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01752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Selección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657600"/>
            <a:ext cx="1572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 del modelo a las 7 tablas de la perspectiva logística. Se descartan cajero, medio de pago y promociones.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944368" y="2514600"/>
            <a:ext cx="2084832" cy="3017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2724912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0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301752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Preprocesamiento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657600"/>
            <a:ext cx="1572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de integridad: sin stock negativo, sin huérfanos. Las dos tablas de hechos cierran en 1.372.990 unidades.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248656" y="2514600"/>
            <a:ext cx="2084832" cy="3017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504688" y="2724912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04688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504688" y="301752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Transformación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504688" y="3657600"/>
            <a:ext cx="1572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de tasa de quiebre, días de cobertura y valor de inventario. Banderas convertidas a enteros para poder sumarlas.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552944" y="2514600"/>
            <a:ext cx="2084832" cy="3017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808976" y="2724912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08976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808976" y="301752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Minería de datos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808976" y="3657600"/>
            <a:ext cx="1572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de reglas SI/ENTONCES sobre 131.580 observaciones, con soporte, confianza y lift.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857232" y="2514600"/>
            <a:ext cx="2084832" cy="3017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113264" y="2724912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13264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13264" y="301752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Interpretación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113264" y="3657600"/>
            <a:ext cx="1572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con hold-out temporal y control de correlaciones espurias. Traducción a acciones de abastecimiento.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3 de la consigna. Cada fase dejó su rastro en el repositorio: scripts, controles y resultados reproducibles.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00707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0007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INDUCTIVO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reglas inducidas desde los casos particulares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fila del almacén es una observación. De ellas se infieren reglas generales, y cada una tiene una acción asociada.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95728"/>
            <a:ext cx="1088136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615184"/>
            <a:ext cx="475488" cy="347472"/>
          </a:xfrm>
          <a:prstGeom prst="roundRect">
            <a:avLst>
              <a:gd name="adj" fmla="val 18421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61518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536192" y="26151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 Bebidas en zona Oeste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26151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19,34 %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26609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1,91×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6609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261518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Reforzar la reposición antes del fin de semana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310128"/>
            <a:ext cx="1088136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3529584"/>
            <a:ext cx="475488" cy="347472"/>
          </a:xfrm>
          <a:prstGeom prst="roundRect">
            <a:avLst>
              <a:gd name="adj" fmla="val 18421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352958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536192" y="35295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 Proveedor Arcor, ciclo de 14 días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35295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9,69 %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852160" y="35753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3529584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2,60×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35753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352958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Renegociar frecuencia o subir el nivel objetivo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224528"/>
            <a:ext cx="1088136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96112" y="4443984"/>
            <a:ext cx="475488" cy="347472"/>
          </a:xfrm>
          <a:prstGeom prst="roundRect">
            <a:avLst>
              <a:gd name="adj" fmla="val 18421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96112" y="444398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536192" y="44439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 Congelados en verano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800600" y="44439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27,03 %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852160" y="44897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583680" y="4443984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3,97×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406640" y="44897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955280" y="444398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Nivel objetivo estacional de diciembre a febrero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5138928"/>
            <a:ext cx="1088136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96112" y="5358384"/>
            <a:ext cx="475488" cy="347472"/>
          </a:xfrm>
          <a:prstGeom prst="roundRect">
            <a:avLst>
              <a:gd name="adj" fmla="val 18421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6112" y="535838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536192" y="53583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 Sobrestock en San Justo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800600" y="53583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49,95 %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54041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6583680" y="5358384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1,62×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406640" y="5404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7955280" y="535838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Recalibrar el nivel objetivo a su demanda real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lift indica cuántas veces más probable es el quiebre cuando se cumple la condición. Un lift de 1 sería ruido.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115568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Descubiertas en 2024, verificadas contra 2025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una regla fuera casualidad de los datos con los que se encontró, al cambiar de año se caería. Ninguna se movió más de 1,3 puntos.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377440"/>
          <a:ext cx="7223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0" y="2377440"/>
            <a:ext cx="3291840" cy="3200400"/>
          </a:xfrm>
          <a:prstGeom prst="roundRect">
            <a:avLst>
              <a:gd name="adj" fmla="val 1714"/>
            </a:avLst>
          </a:prstGeom>
          <a:solidFill>
            <a:srgbClr val="EFEFEA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503920" y="2606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2971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suficientes cruces siempre aparece alguna coincidencia llamativa. La prueba de que un patrón es real no es que se vea bien en el gráfico: es que sobreviva a datos que el análisis no miró.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4526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1,3 pts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5029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desvío máximo entre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año de inducción y el de prueba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39773" cy="256032"/>
          </a:xfrm>
          <a:prstGeom prst="roundRect">
            <a:avLst>
              <a:gd name="adj" fmla="val 17857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ESPURIA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 el proveedor, o es la zona?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Coca-Cola encabeza el ranking de faltantes. Al excluir la zona Oeste del cálculo, el efecto desaparece. Con Arcor pasa lo contrario.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423160"/>
          <a:ext cx="73152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321040" y="2423160"/>
            <a:ext cx="320040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577072" y="2606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que se desvanece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577072" y="29077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62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10,8 %  →  0,8 %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577072" y="32918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fue Coca-Cola. Era la zona.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321040" y="4096512"/>
            <a:ext cx="320040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B03A2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577072" y="427939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que se refuerza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577072" y="458114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9,7 %  →  11,5 %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577072" y="496519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Acá sí hay un problema real de ciclo de entrega.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Presentar sólo la primera serie llevaría a renegociar el contrato equivocado.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874166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8741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cuesta hoy, y qué se libera al corregirlo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32688" y="2377440"/>
            <a:ext cx="2935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$ 75,5 M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01752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perdida estimada en 12 meses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401568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Asume un día de demanda perdida por cada día-producto en quiebre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53128" y="214884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745736" y="2377440"/>
            <a:ext cx="2935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$ 960 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745736" y="301752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liberable en San Justo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745736" y="3401568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operara con los 4 días de cobertura del resto de la cadena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66176" y="214884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558784" y="2377440"/>
            <a:ext cx="2935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2.969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8558784" y="301752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de faltante de bebidas en el Oeste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558784" y="3401568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Concentrados en los días hábiles posteriores al fin de semana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decisiones concretas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6634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objetivo diferenciado para fin de semana en las bebidas del Oeste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Renegociar con Arcor el ciclo de 14 días, o compensarlo subiendo el nivel objetivo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Recalibrar San Justo a su demanda real y redistribuir el excedente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920240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EN VIVO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portal de abastecimiento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hallazgos anteriores no quedan en un informe: el gerente los explora solo, sin saber SQL.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95728"/>
            <a:ext cx="69494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578608"/>
            <a:ext cx="347472" cy="347472"/>
          </a:xfrm>
          <a:prstGeom prst="roundRect">
            <a:avLst>
              <a:gd name="adj" fmla="val 18421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389888" y="2496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general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89888" y="27614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indicadores con semáforo y las tres alertas más urgentes del momento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236976"/>
            <a:ext cx="69494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419856"/>
            <a:ext cx="347472" cy="347472"/>
          </a:xfrm>
          <a:prstGeom prst="roundRect">
            <a:avLst>
              <a:gd name="adj" fmla="val 18421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89888" y="3337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por Oeste y Bebidas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389888" y="360273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recalcula: la tasa salta a 19,34 %, el mismo número que dio SQL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078224"/>
            <a:ext cx="69494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4261104"/>
            <a:ext cx="347472" cy="347472"/>
          </a:xfrm>
          <a:prstGeom prst="roundRect">
            <a:avLst>
              <a:gd name="adj" fmla="val 18421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6112" y="42611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89888" y="41788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Quiebre por día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89888" y="444398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pico cae el martes, no el fin de semana. El efecto de arrastre, visible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919472"/>
            <a:ext cx="69494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5102352"/>
            <a:ext cx="347472" cy="347472"/>
          </a:xfrm>
          <a:prstGeom prst="roundRect">
            <a:avLst>
              <a:gd name="adj" fmla="val 18421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6112" y="5102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389888" y="50200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proveedores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389888" y="528523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Coca-Cola se desploma al excluir el Oeste; Arcor se mantiene arriba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55280" y="2395728"/>
            <a:ext cx="3566160" cy="3310128"/>
          </a:xfrm>
          <a:prstGeom prst="roundRect">
            <a:avLst>
              <a:gd name="adj" fmla="val 1657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2960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está hecho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29718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librerías ni compilación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dibujados a mano en SVG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resume 470.000 registros a 783 filas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filtros reagregan por conteos, no por promedios de tasas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Preparado para enchufarle el backend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52852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santiagoskrobacki.github.io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22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1115568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123444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no era reponer más:</a:t>
            </a:r>
            <a:endParaRPr lang="en-US" sz="32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era reponer con el parámetro correcto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9184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MiniRed calcula su nivel objetivo de reposición sobre el promedio de días hábiles. Los tres patrones de quiebre y el de sobrestock salen todos de ese mismo supuesto.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5262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validadas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48646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hold-out temporal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45262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concretas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48646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el nivel objetivo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45262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espuria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48646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descartada a tiempo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8978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Portal, código y documentación:  github.com/SantiagoSkrobacki/TP_MiniRedBaseDeDatos   ·   Gracias.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MiniRed S.A.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Pitch — Logística e Inventario</dc:title>
  <dc:subject>PptxGenJS Presentation</dc:subject>
  <dc:creator>Santiago Skrobacki</dc:creator>
  <cp:lastModifiedBy>Santiago Skrobacki</cp:lastModifiedBy>
  <cp:revision>1</cp:revision>
  <dcterms:created xsi:type="dcterms:W3CDTF">2026-09-09T02:53:41Z</dcterms:created>
  <dcterms:modified xsi:type="dcterms:W3CDTF">2026-09-09T02:53:41Z</dcterms:modified>
</cp:coreProperties>
</file>