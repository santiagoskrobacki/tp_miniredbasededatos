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Confianza 2024</c:v>
                </c:pt>
              </c:strCache>
            </c:strRef>
          </c:tx>
          <c:spPr>
            <a:solidFill>
              <a:srgbClr val="2225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2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19.28</c:v>
                </c:pt>
                <c:pt idx="1">
                  <c:v>9.56</c:v>
                </c:pt>
                <c:pt idx="2">
                  <c:v>26.42</c:v>
                </c:pt>
                <c:pt idx="3">
                  <c:v>50.16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Confianza 2025</c:v>
                </c:pt>
              </c:strCache>
            </c:strRef>
          </c:tx>
          <c:spPr>
            <a:solidFill>
              <a:srgbClr val="E9A13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2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R1</c:v>
                  </c:pt>
                  <c:pt idx="1">
                    <c:v>R2</c:v>
                  </c:pt>
                  <c:pt idx="2">
                    <c:v>R3</c:v>
                  </c:pt>
                  <c:pt idx="3">
                    <c:v>R4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19.4</c:v>
                </c:pt>
                <c:pt idx="1">
                  <c:v>9.82</c:v>
                </c:pt>
                <c:pt idx="2">
                  <c:v>27.64</c:v>
                </c:pt>
                <c:pt idx="3">
                  <c:v>49.74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5C62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5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3E3D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C62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quiebre global</c:v>
                </c:pt>
              </c:strCache>
            </c:strRef>
          </c:tx>
          <c:spPr>
            <a:solidFill>
              <a:srgbClr val="2225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C62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Coca-Cola</c:v>
                  </c:pt>
                  <c:pt idx="1">
                    <c:v>Aguas Danone</c:v>
                  </c:pt>
                  <c:pt idx="2">
                    <c:v>Cervecería Quilmes</c:v>
                  </c:pt>
                  <c:pt idx="3">
                    <c:v>Arcor</c:v>
                  </c:pt>
                  <c:pt idx="4">
                    <c:v>Frigorífico Sur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10.77</c:v>
                </c:pt>
                <c:pt idx="1">
                  <c:v>9.84</c:v>
                </c:pt>
                <c:pt idx="2">
                  <c:v>9.84</c:v>
                </c:pt>
                <c:pt idx="3">
                  <c:v>9.69</c:v>
                </c:pt>
                <c:pt idx="4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Excluyendo zona Oeste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5C62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Coca-Cola</c:v>
                  </c:pt>
                  <c:pt idx="1">
                    <c:v>Aguas Danone</c:v>
                  </c:pt>
                  <c:pt idx="2">
                    <c:v>Cervecería Quilmes</c:v>
                  </c:pt>
                  <c:pt idx="3">
                    <c:v>Arcor</c:v>
                  </c:pt>
                  <c:pt idx="4">
                    <c:v>Frigorífico Sur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0.78</c:v>
                </c:pt>
                <c:pt idx="1">
                  <c:v>0.85</c:v>
                </c:pt>
                <c:pt idx="2">
                  <c:v>1</c:v>
                </c:pt>
                <c:pt idx="3">
                  <c:v>11.49</c:v>
                </c:pt>
                <c:pt idx="4">
                  <c:v>8.14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5C62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5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0"/>
        <c:axPos val="l"/>
        <c:majorGridlines>
          <c:spPr>
            <a:ln w="12700" cap="flat">
              <a:solidFill>
                <a:srgbClr val="E3E3DE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7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C627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la consultora. En 10 minutos: qué encontramos, cómo lo validamos, y qué haría MiniRed con esto. Arranco por el problema, no por la tecnología.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no alcanza con 'reponer más'. Una sucursal con cero quiebre puede ser la peor gestionada de la cadena. Ese es el hallazgo que más sorprende y lo mostramos en el minuto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Declararlo de entrada quita el aire a la pregunta incómoda. Y convierte una limitación en material teórico.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qué no una sola tabla: distinto grano. Un ticket es un evento; el stock es una foto diaria. Meterlos juntos rompe la aditividad.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técnico que más pesa. Si sólo se llevan una cosa del pitch, que sea ésta: el 750x de diferencia entre sumar mal y sumar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Puntos 1 y 4 de la consigna resueltos en una sola lámina. El ejemplo del martes es concreto y se puede mostrar en vivo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2. Mencionar que EsQuiebre se guarda como entero y no como bit, justamente porque se suma para contar días de faltante.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Pasar rápido por 1 a 3 y detenerse en 4 y 5, que es donde está el contenido propio.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6. No leer las cuatro: contar R1 y R3, que son las más visuales, y dejar R2 para la lámina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5, primera mitad: sobreajuste. La segunda mitad es la lámina que sigue.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lámina más fuerte del pitch. Pausar acá. Si hay una sola pregunta del jurado, va a salir de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acciones, no con números. El jurado quiere ver que el análisis termina en una decisión.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el portal en otra ventana ANTES de empezar el pitch. Si falla internet, la copia embebida hace que abra igual con doble clic.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en una sola idea: un supuesto mal puesto en la política de reposición explica los cuatro hallazgos. Abrir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E32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37160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CONSULTORA ANALÍTICA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MiniRed S.A.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957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minimercados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sucursales + depósito Central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783080"/>
            <a:ext cx="6583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nos quedamos sin stock,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dónde tenemos plata dormida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41148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quiebres de stock y rotación sobre el data warehouse MiniRed_DW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57607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B · Logística e Inventario   |   Minería de Datos, KDD y Modelado Dimensional — Unidad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formas de perder plata con el stock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son problemas de abastecimiento, y son opuestas: corregir una mal empeora la otra.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8986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Góndola vacía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4747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va a buscar el producto y no lo encuentra. Es venta perdida, y además manda al cliente al competidor de la esquina.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297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5,22 %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01752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días-producto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stock en góndola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514600"/>
            <a:ext cx="5257800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75120" y="2926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89864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Depósito lleno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47472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Mercadería que nadie compró. Es capital inmovilizado, ocupa lugar y puede vencerse. Nunca falta nada porque sobra todo.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297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$ 12,0 M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góndola al cierre</a:t>
            </a:r>
            <a:endParaRPr lang="en-US" sz="11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período analizado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MiniRed_DW · 131.580 observaciones diarias de góndola sobre 731 días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98371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59837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cátedra da el diseño; la base la construimos nosotros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Generamos MiniRed_DW con comportamientos realistas puestos a propósito y documentados. Los datos son simulados; las cuentas que siguen son reales.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315.969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747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de ticket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8770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Fact_Ventas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02152" y="26060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76472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153.510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34747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diarias de góndola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38770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Fact_Stock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64224" y="26060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638544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731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638544" y="34747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consecutivos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638544" y="38770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26296" y="260604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500616" y="28346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500616" y="347472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× 6 sucursales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500616" y="38770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categorías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EFEFEA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5840" y="4754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plantar patrones a propósito?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50749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dataset generado al azar no contiene ninguna regla que descubrir: sería buscar huellas en una playa donde nadie caminó. La contrapartida —que la validación estadística no alcanza y todo hallazgo debe contrastarse contra la lógica del negocio— es exactamente el punto 5 de la consigna.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DIMENSIONAL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procesos de negocio, tres dimensiones compartidas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y reponer son procesos distintos, con distinto grano. Comparten Tiempo, Sucursal y Producto: eso convierte dos estrellas en una constelación.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92040" y="2724912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A13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56632" y="2816352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Dim_Tiempo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056632" y="31089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 días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92040" y="3602736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A13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056632" y="3694176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Dim_Sucursal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56632" y="3986784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ubicaciones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448056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9A13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056632" y="4572000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56632" y="48646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productos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4323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2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CONFORMADAS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17320" y="324612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600200" y="3447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Fact_Ventas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776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1 línea de ticket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315.969 filas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49640" y="3246120"/>
            <a:ext cx="2194560" cy="1371600"/>
          </a:xfrm>
          <a:prstGeom prst="roundRect">
            <a:avLst>
              <a:gd name="adj" fmla="val 4000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732520" y="3447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Fact_Stock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776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grano: 1 día × sucursal × producto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32520" y="4233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153.510 filas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054096"/>
            <a:ext cx="0" cy="1755648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3054096"/>
            <a:ext cx="0" cy="1755648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3054096"/>
            <a:ext cx="54864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3054096"/>
            <a:ext cx="59436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3400" y="3931920"/>
            <a:ext cx="54864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3931920"/>
            <a:ext cx="59436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43400" y="4809744"/>
            <a:ext cx="54864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78040" y="4809744"/>
            <a:ext cx="59436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11880" y="3931920"/>
            <a:ext cx="73152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3931920"/>
            <a:ext cx="777240" cy="0"/>
          </a:xfrm>
          <a:prstGeom prst="line">
            <a:avLst/>
          </a:prstGeom>
          <a:noFill/>
          <a:ln w="15875">
            <a:solidFill>
              <a:srgbClr val="C9C9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17320" y="5230368"/>
            <a:ext cx="9326880" cy="914400"/>
          </a:xfrm>
          <a:prstGeom prst="roundRect">
            <a:avLst>
              <a:gd name="adj" fmla="val 6000"/>
            </a:avLst>
          </a:prstGeom>
          <a:solidFill>
            <a:srgbClr val="EFEFEA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737360" y="5394960"/>
            <a:ext cx="8686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Dim_Cajero y Dim_MedioPago quedan sólo del lado de las ventas: el ingreso de mercadería no pasa por caja. Esa asimetría es la prueba de que el stock es un proceso separado y no una columna más en Fact_Ventas.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00707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0007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QUE EVITAMOS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Diez botellas el lunes y diez el martes no son veinte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mismas diez, fotografiadas dos veces. El stock se suma por sucursal y por producto, nunca por tiempo: es una medida semi-aditiva.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4937760" cy="1965960"/>
          </a:xfrm>
          <a:prstGeom prst="roundRect">
            <a:avLst>
              <a:gd name="adj" fmla="val 2791"/>
            </a:avLst>
          </a:prstGeom>
          <a:solidFill>
            <a:srgbClr val="2E323A"/>
          </a:solidFill>
          <a:ln w="12700">
            <a:solidFill>
              <a:srgbClr val="3E434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05840" y="2944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Sumando los 731 días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91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6.159.125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— no significa nada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2651760"/>
            <a:ext cx="4937760" cy="1965960"/>
          </a:xfrm>
          <a:prstGeom prst="roundRect">
            <a:avLst>
              <a:gd name="adj" fmla="val 2791"/>
            </a:avLst>
          </a:prstGeom>
          <a:solidFill>
            <a:srgbClr val="2E323A"/>
          </a:solidFill>
          <a:ln w="12700">
            <a:solidFill>
              <a:srgbClr val="E9A13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00800" y="2944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real en góndola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918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8.161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— la lectura correcta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377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órdenes de magnitud de diferencia. En el cubo se resuelve configurando la medida con LastNonEmpty; el asistente la deja en Sum por defecto.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81174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0811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Y DISCIPLINAS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responder preguntas a descubrir patrones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consulta OLAP contesta lo que ya sabíamos preguntar. La minería de datos encuentra lo que no sabíamos que había que preguntar.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0F0EB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analítica (OLAP)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529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quebró la zona Oeste en mayo? — La pregunta ya trae la hipótesis adentro.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493008"/>
            <a:ext cx="56235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36027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 de datos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7705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quiebre de bebidas en el Oeste no cae el fin de semana: cae el martes. Nadie lo había preguntado.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468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disciplinas, una solución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2980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159752" y="29260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bases de datos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32186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 en SQL Server, cubo en Analysis Services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391363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159752" y="38587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inferencial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159752" y="415137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Soporte, confianza, lift y validación con datos que el modelo no vio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20840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59752" y="47914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159752" y="50840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usados para diseñar consultas, cuestionar hallazgos y maquetar el portal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59306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75930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VARIABLES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puede promediar y qué sólo se puede contar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clasificación no es un trámite: define qué operación tiene sentido sobre cada columna.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32688" y="2651760"/>
            <a:ext cx="2935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Continuas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017520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Admiten cualquier valor de un rango. Se promedian.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65760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ImporteTotal — pesos facturados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CostoUnitario — costo por unidad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ValorInventario — capital en góndola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53128" y="242316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45736" y="2651760"/>
            <a:ext cx="2935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Discretas numéricas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45736" y="3017520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Conteos. No existen los valores intermedios.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65760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— unidades vendidas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StockDisponible — unidades en góndola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CantidadIngresada — unidades repuestas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66176" y="242316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58784" y="2651760"/>
            <a:ext cx="2935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Discretas categóricas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58784" y="3017520"/>
            <a:ext cx="2935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Etiquetas. Sirven para agrupar y filtrar.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558784" y="3657600"/>
            <a:ext cx="293522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Zona, Categoría, Proveedor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EsFinDeSemana — binaria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EsQuiebre — la variable objetivo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objetivo del análisis es EsQuiebre: binaria, y por eso el modelo se evalúa con confianza y lift, no con un error promedio.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96035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1960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KDD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cinco fases, aplicadas a este caso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084832" cy="3017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72491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01752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65760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del modelo a las 7 tablas de la perspectiva logística. Se descartan cajero, medio de pago y promociones.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44368" y="2514600"/>
            <a:ext cx="2084832" cy="3017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72491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00400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301752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65760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integridad: sin stock negativo, sin huérfanos. Las dos tablas de hechos cierran en 1.372.990 unidades.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48656" y="2514600"/>
            <a:ext cx="2084832" cy="3017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504688" y="272491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04688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04688" y="301752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Transformación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04688" y="365760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de tasa de quiebre, días de cobertura y valor de inventario. Banderas convertidas a enteros para poder sumarlas.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52944" y="2514600"/>
            <a:ext cx="2084832" cy="3017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808976" y="272491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08976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08976" y="301752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Minería de datos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808976" y="365760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reglas SI/ENTONCES sobre 131.580 observaciones, con soporte, confianza y lift.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857232" y="2514600"/>
            <a:ext cx="2084832" cy="30175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13264" y="272491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13264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13264" y="301752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113264" y="3657600"/>
            <a:ext cx="157276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hold-out temporal y control de correlaciones espurias. Traducción a acciones de abastecimiento.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3 de la consigna. Cada fase dejó su rastro en el repositorio: scripts, controles y resultados reproducibles.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000707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20007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INDUCTIVO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reglas inducidas desde los casos particulares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del almacén es una observación. De ellas se infieren reglas generales, y cada una tiene una acción asociada.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615184"/>
            <a:ext cx="475488" cy="347472"/>
          </a:xfrm>
          <a:prstGeom prst="roundRect">
            <a:avLst>
              <a:gd name="adj" fmla="val 18421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61518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36192" y="26151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Bebidas en zona Oeste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6151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19,34 %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6609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6151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1,91×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6609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26151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Reforzar la reposición antes del fin de semana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31012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529584"/>
            <a:ext cx="475488" cy="347472"/>
          </a:xfrm>
          <a:prstGeom prst="roundRect">
            <a:avLst>
              <a:gd name="adj" fmla="val 18421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352958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536192" y="35295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Proveedor Arcor, ciclo de 14 días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3529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9,69 %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5753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5295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2,60×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5753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35295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Renegociar frecuencia o subir el nivel objetivo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22452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443984"/>
            <a:ext cx="475488" cy="347472"/>
          </a:xfrm>
          <a:prstGeom prst="roundRect">
            <a:avLst>
              <a:gd name="adj" fmla="val 18421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6112" y="444398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536192" y="44439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Congelados en verano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4439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27,03 %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852160" y="44897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44439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3,97×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406640" y="44897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439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Nivel objetivo estacional de diciembre a febrero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138928"/>
            <a:ext cx="1088136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6112" y="5358384"/>
            <a:ext cx="475488" cy="347472"/>
          </a:xfrm>
          <a:prstGeom prst="roundRect">
            <a:avLst>
              <a:gd name="adj" fmla="val 18421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6112" y="535838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536192" y="535838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 Sobrestock en San Justo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53583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49,95 %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5404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53583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1,62×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406640" y="5404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955280" y="53583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Recalibrar el nivel objetivo a su demanda real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lift indica cuántas veces más probable es el quiebre cuando se cumple la condición. Un lift de 1 sería ruido.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Descubiertas en 2024, verificadas contra 2025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regla fuera casualidad de los datos con los que se encontró, al cambiar de año se caería. Ninguna se movió más de 1,3 puntos.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377440"/>
          <a:ext cx="7223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2377440"/>
            <a:ext cx="3291840" cy="3200400"/>
          </a:xfrm>
          <a:prstGeom prst="roundRect">
            <a:avLst>
              <a:gd name="adj" fmla="val 1714"/>
            </a:avLst>
          </a:prstGeom>
          <a:solidFill>
            <a:srgbClr val="EFEFEA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03920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2971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suficientes cruces siempre aparece alguna coincidencia llamativa. La prueba de que un patrón es real no es que se vea bien en el gráfico: es que sobreviva a datos que el análisis no miró.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4526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1,3 pts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5029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desvío máximo entre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año de inducción y el de prueba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39773" cy="256032"/>
          </a:xfrm>
          <a:prstGeom prst="roundRect">
            <a:avLst>
              <a:gd name="adj" fmla="val 17857"/>
            </a:avLst>
          </a:prstGeom>
          <a:solidFill>
            <a:srgbClr val="B03A2E"/>
          </a:solidFill>
          <a:ln w="12700">
            <a:solidFill>
              <a:srgbClr val="B03A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8397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ESPURIA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¿Es el proveedor, o es la zona?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encabeza el ranking de faltantes. Al excluir la zona Oeste del cálculo, el efecto desaparece. Con Arcor pasa lo contrario.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423160"/>
          <a:ext cx="73152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2423160"/>
            <a:ext cx="320040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577072" y="2606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que se desvanece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577072" y="29077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C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10,8 %  →  0,8 %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577072" y="32918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fue Coca-Cola. Era la zona.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21040" y="4096512"/>
            <a:ext cx="320040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B03A2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577072" y="42793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que se refuerza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577072" y="458114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9,7 %  →  11,5 %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577072" y="49651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sí hay un problema real de ciclo de entrega.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sólo la primera serie llevaría a renegociar el contrato equivocado.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74166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8741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cuesta hoy, y qué se libera al corregirlo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32688" y="237744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$ 75,5 M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01752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perdida estimada en 12 meses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340156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un día de demanda perdida por cada día-producto en quiebre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3128" y="21488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45736" y="237744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$ 960 K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745736" y="301752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liberable en San Justo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45736" y="340156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operara con los 4 días de cobertura del resto de la cadena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66176" y="2148840"/>
            <a:ext cx="35204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558784" y="2377440"/>
            <a:ext cx="2935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2.969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8558784" y="3017520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faltante de bebidas en el Oeste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558784" y="3401568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Concentrados en los días hábiles posteriores al fin de semana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decisiones concretas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634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objetivo diferenciado para fin de semana en las bebidas del Oeste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Renegociar con Arcor el ciclo de 14 días, o compensarlo subiendo el nivel objetivo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Recalibrar San Justo a su demanda real y redistribuir el excedente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41248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2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portal de abastecimiento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93392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hallazgos anteriores no quedan en un informe: el gerente los explora solo, sin saber SQL.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95728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57860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general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389888" y="27614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indicadores con semáforo y las tres alertas más urgentes del momento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36976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96112" y="341985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419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por Oeste y Bebidas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389888" y="36027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recalcula: la tasa salta a 19,34 %, el mismo número que dio 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426110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6112" y="4261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 por día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389888" y="44439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pico cae el martes, no el fin de semana. El efecto de arrastre, visible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919472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3D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96112" y="510235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" y="5102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389888" y="5020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proveedores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389888" y="5285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se desploma al excluir el Oeste; Arcor se mantiene arriba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2395728"/>
            <a:ext cx="3566160" cy="3310128"/>
          </a:xfrm>
          <a:prstGeom prst="roundRect">
            <a:avLst>
              <a:gd name="adj" fmla="val 1657"/>
            </a:avLst>
          </a:prstGeom>
          <a:solidFill>
            <a:srgbClr val="22252B"/>
          </a:solidFill>
          <a:ln w="12700">
            <a:solidFill>
              <a:srgbClr val="22252B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22960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hecho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29718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librerías ni compilación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dibujados a mano en SVG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resume 470.000 registros a 783 filas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filtros reagregan por conteos, no por promedios de tasas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6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enchufarle el backend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5285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santiagoskrobacki.github.io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22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34440"/>
            <a:ext cx="1115568" cy="256032"/>
          </a:xfrm>
          <a:prstGeom prst="roundRect">
            <a:avLst>
              <a:gd name="adj" fmla="val 17857"/>
            </a:avLst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234440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22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no era reponer más: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reponer con el parámetro correcto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MiniRed calcula su nivel objetivo de reposición sobre el promedio de días hábiles. Los tres patrones de quiebre y el de sobrestock salen todos de ese mismo supuesto.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26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validadas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48646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hold-out temporal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526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concretas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48646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nivel objetivo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452628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A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58200" y="45720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espuria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486460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 a tiempo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Portal, código y documentación:  github.com/SantiagoSkrobacki/TP_MiniRedBaseDeDatos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MiniRed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— Logística e Inventario</dc:title>
  <dc:subject>PptxGenJS Presentation</dc:subject>
  <dc:creator>Santiago Skrobacki</dc:creator>
  <cp:lastModifiedBy>Santiago Skrobacki</cp:lastModifiedBy>
  <cp:revision>1</cp:revision>
  <dcterms:created xsi:type="dcterms:W3CDTF">2026-09-09T02:37:01Z</dcterms:created>
  <dcterms:modified xsi:type="dcterms:W3CDTF">2026-09-09T02:37:01Z</dcterms:modified>
</cp:coreProperties>
</file>